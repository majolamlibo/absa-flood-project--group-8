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4B21-4318-D9E5-076C-C514F4B96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364E3-1489-D546-301A-431CE5289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4EF25-040C-25A0-1E8F-7A3F31AB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8C4F6-7F55-E3DC-AEC4-DC6A4780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A474D-B4AF-B1D7-F37B-2AC0B425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549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6E71-DB38-B995-EDEF-3A1DCB63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5D4E7-B5C9-249C-D466-6E743106C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EF62B-796C-90C6-B999-E5651216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8E2E3-AC4D-C92B-5851-F0B83601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B5FE3-510F-A38B-B2A3-DFF5852C2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586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1B73-246F-186A-1C3B-1F44DCB7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DD479-BB4F-7E6A-464E-37308EC74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E0282-BB0E-C3DC-9C63-F11407EB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48AAD-3AD5-74EF-6FAE-E1D66F8D7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F14B8-D839-1A1B-F4A1-2FDC8632B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63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107AE-E6C8-D5EF-CC17-A88D12CE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FBF55-CCC2-0BA0-027F-D747CBA7D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7BE8E-8AB7-429C-2A4D-90C93713B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667CE-CEC8-59EC-5718-A12D081E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21856-9A3D-CC0C-7F5F-C44C28D0A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D2497-D7D4-88C4-5324-1F8CA380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9713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52E1F-4570-B956-663C-222EFCEB2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F4D3A-EE4B-24EA-7F54-35D3833C9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DE2B8-A051-BA3F-14B0-1887F47EC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232F9-593A-1438-1113-8AC3A062E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56487-50C0-CFDE-14E7-E661D6E5EA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19A5F2-0DBB-A525-2466-E984D0EE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3FFFC-2773-9E6A-2474-2D89F20B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1C21B7-76DC-4861-BF49-B28EC20F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8532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22491-3713-16F6-CA4D-8B198119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178C7-B5FB-E314-1FDE-99064293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15BB7-A57E-2D50-C4F7-92A7458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62E12-DE08-1F43-D098-7CD97F56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876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12B80-2FAD-8425-A514-590EF79E9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5890E-BB7E-A54E-B645-DE854EB5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E2B0C-8261-77A6-8A4B-FFA5F6F8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598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54D7-0F5A-EF53-1989-C9C3AEDE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AD09-AC51-A763-5534-42005D51E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FEBD4-4CBE-8BD1-ADAE-994CC92B7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D0876-777F-69CF-B385-654840A6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51B62-5EA1-9397-CD05-51E594C2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F5C78-CDD0-6DD0-6325-48F1038F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9796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E3B6-15A1-6199-4817-3E6B166F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173DC3-3C91-0666-FFAF-1CFD01169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512B2-B9F6-8466-38FF-DD71ED75E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B11A-FA81-928A-B57C-968424222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0C8D9-B880-B40F-DEE3-16187DC9C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AC123-0380-DC68-8D5F-8659AEFF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5829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20E4-5774-73FC-B946-C6396CC9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C3044B-E605-B35F-88D8-E1E95D303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A3585-0810-B8F2-A391-914B66B5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D4105-5CC8-B471-75FE-6F50E0D8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C0196-ACBB-0A3E-FE77-5866F17D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921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696CA-9065-A997-199D-AFBB1EE28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1115E-D35D-FD53-3CA3-B3C992A13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D31F5-FD04-FC53-4188-5E3CA4AF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E379E-33E1-EBF3-37F1-79421D21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651B4-46A1-5B40-8F1B-D468D2D1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0529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E617-BC4B-F7C6-0FF0-A88604A3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E55D-3AF2-B050-9C9D-A5DBDCCC3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94444-DEEF-08BD-A8DB-45C7D642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5FDA9-0F1F-8B41-63CA-27B8B97AA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C9025-9AD6-9F5C-0FD0-806A8D6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364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B2595-9F2F-17D7-A630-B72BBDF7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9295C-DD3B-1E5C-1313-BADC803AD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26A6C-A4CD-DCF6-17BE-02A960293E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73F8AE-ADC3-486A-A3C0-B82B506D47AA}" type="datetimeFigureOut">
              <a:rPr lang="en-ZA" smtClean="0"/>
              <a:t>2026/02/02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E422D-0796-0CE6-97B1-9CB5B7FB0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66ECF-2A21-E513-7066-2234BABFA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1D763-8523-45DE-98FE-81E15D37CF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964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362D-432D-8D78-2998-A3F19CA3C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Flood Risk Analysis: Western Cape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179A6-E1FF-F29D-20B4-F94350B578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/>
              <a:t>Group 8</a:t>
            </a:r>
          </a:p>
          <a:p>
            <a:r>
              <a:rPr lang="en-ZA"/>
              <a:t>Date: 2026-02-02</a:t>
            </a:r>
          </a:p>
        </p:txBody>
      </p:sp>
    </p:spTree>
    <p:extLst>
      <p:ext uri="{BB962C8B-B14F-4D97-AF65-F5344CB8AC3E}">
        <p14:creationId xmlns:p14="http://schemas.microsoft.com/office/powerpoint/2010/main" val="3402118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3893-CB5E-CEE9-CFF8-2722AE56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5B31F-212E-E7FA-8C22-D88EA3AD2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Objective:</a:t>
            </a:r>
          </a:p>
          <a:p>
            <a:r>
              <a:rPr lang="en-US"/>
              <a:t>	- Predict frequency and severity of flood events in the Western Cape.</a:t>
            </a:r>
          </a:p>
          <a:p>
            <a:r>
              <a:rPr lang="en-US"/>
              <a:t>	- Establish actionable business recommendations for CZR Insurance Group.</a:t>
            </a:r>
          </a:p>
          <a:p>
            <a:endParaRPr lang="en-US"/>
          </a:p>
          <a:p>
            <a:r>
              <a:rPr lang="en-US"/>
              <a:t>Methodology:</a:t>
            </a:r>
          </a:p>
          <a:p>
            <a:r>
              <a:rPr lang="en-US"/>
              <a:t>	- Applied EDA and predictive modeling (GLM, Random Forest, ARIMA).</a:t>
            </a:r>
          </a:p>
          <a:p>
            <a:r>
              <a:rPr lang="en-US"/>
              <a:t>	- Utilized historical climate and dam-level data (2017-2021).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627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843E-D3E5-331A-8F08-51992544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Background &amp;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ADF85-AC2F-D045-ADE6-76AC1D3FE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Background:</a:t>
            </a:r>
          </a:p>
          <a:p>
            <a:r>
              <a:rPr lang="en-US"/>
              <a:t>	- CZR Insurance Group seeks data-driven approaches to mitigate financial losses from climate disasters.</a:t>
            </a:r>
          </a:p>
          <a:p>
            <a:endParaRPr lang="en-US"/>
          </a:p>
          <a:p>
            <a:r>
              <a:rPr lang="en-US"/>
              <a:t>Study Objectives:</a:t>
            </a:r>
          </a:p>
          <a:p>
            <a:r>
              <a:rPr lang="en-US"/>
              <a:t>	1. Analyse historical climate and dam-level data.</a:t>
            </a:r>
          </a:p>
          <a:p>
            <a:r>
              <a:rPr lang="en-US"/>
              <a:t>	2. Identify trends leading to floods.</a:t>
            </a:r>
          </a:p>
          <a:p>
            <a:r>
              <a:rPr lang="en-US"/>
              <a:t>	3. Develop predictive models for flood frequency/severity.</a:t>
            </a:r>
          </a:p>
          <a:p>
            <a:r>
              <a:rPr lang="en-US"/>
              <a:t>	4. Propose strategies to reduce financial risk.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343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432F-4D28-EED4-76D4-A937169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Data Overview (2017-2021)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C271E-88D1-6E4B-649E-B856305CC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ZA"/>
              <a:t>Key Variables:</a:t>
            </a:r>
          </a:p>
          <a:p>
            <a:r>
              <a:rPr lang="en-ZA"/>
              <a:t>	- Temperature: Max, Min, Average</a:t>
            </a:r>
          </a:p>
          <a:p>
            <a:r>
              <a:rPr lang="en-ZA"/>
              <a:t>	- Atmospheric: Air pressure, Wind speed, Humidity</a:t>
            </a:r>
          </a:p>
          <a:p>
            <a:r>
              <a:rPr lang="en-ZA"/>
              <a:t>	- Dam Metrics: Water storage, Capacity, Dam levels</a:t>
            </a:r>
          </a:p>
          <a:p>
            <a:endParaRPr lang="en-ZA"/>
          </a:p>
          <a:p>
            <a:r>
              <a:rPr lang="en-ZA"/>
              <a:t>Preparation:</a:t>
            </a:r>
          </a:p>
          <a:p>
            <a:r>
              <a:rPr lang="en-ZA"/>
              <a:t>	- Handled missing values and aggregated dam data.</a:t>
            </a:r>
          </a:p>
          <a:p>
            <a:r>
              <a:rPr lang="en-ZA"/>
              <a:t>	- Constructed time index (Year/Month) for time-series analysis.</a:t>
            </a:r>
          </a:p>
        </p:txBody>
      </p:sp>
    </p:spTree>
    <p:extLst>
      <p:ext uri="{BB962C8B-B14F-4D97-AF65-F5344CB8AC3E}">
        <p14:creationId xmlns:p14="http://schemas.microsoft.com/office/powerpoint/2010/main" val="104683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4E515-A32B-4602-5954-B78FFFD5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EDA: Temperature vs Precipitation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FDFC6-B4A5-E203-D09A-EA460DDC5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Findings:</a:t>
            </a:r>
          </a:p>
          <a:p>
            <a:r>
              <a:rPr lang="en-US"/>
              <a:t>	- Scatter plot reveals no clear linear pattern.</a:t>
            </a:r>
          </a:p>
          <a:p>
            <a:r>
              <a:rPr lang="en-US"/>
              <a:t>	- Higher temperatures do not necessarily lead to increased rainfall.</a:t>
            </a:r>
          </a:p>
          <a:p>
            <a:r>
              <a:rPr lang="en-US"/>
              <a:t>	- Conclusion: Temperature alone is not a reliable predictor of flood events.</a:t>
            </a:r>
          </a:p>
          <a:p>
            <a:endParaRPr lang="en-US"/>
          </a:p>
          <a:p>
            <a:r>
              <a:rPr lang="en-US"/>
              <a:t>[Placeholder: Insert Scatter Plot Here]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827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0195-41F0-C0C4-876B-1A56490D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EDA: Seasonal Temperature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E6490-10D9-8B3E-4E17-E1A95C3BA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Analysis:</a:t>
            </a:r>
          </a:p>
          <a:p>
            <a:r>
              <a:rPr lang="en-US"/>
              <a:t>	- Summer: High temps in Months 1-3 &amp; 11-12.</a:t>
            </a:r>
          </a:p>
          <a:p>
            <a:r>
              <a:rPr lang="en-US"/>
              <a:t>	- Winter: Low temps in Months 6-8.</a:t>
            </a:r>
          </a:p>
          <a:p>
            <a:r>
              <a:rPr lang="en-US"/>
              <a:t>	- Confirms clear seasonal patterns in Western Cape.</a:t>
            </a:r>
          </a:p>
          <a:p>
            <a:endParaRPr lang="en-US"/>
          </a:p>
          <a:p>
            <a:r>
              <a:rPr lang="en-US"/>
              <a:t>Correlation Insights:</a:t>
            </a:r>
          </a:p>
          <a:p>
            <a:r>
              <a:rPr lang="en-US"/>
              <a:t>	- Humidity and Precipitation show a positive relationship.</a:t>
            </a:r>
          </a:p>
          <a:p>
            <a:r>
              <a:rPr lang="en-US"/>
              <a:t>	- Strong negative correlation between Avg Temp and Air Pressure.</a:t>
            </a:r>
          </a:p>
          <a:p>
            <a:r>
              <a:rPr lang="en-US"/>
              <a:t>[Placeholder: Insert Box Plot Here]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9592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77A6-B205-A184-4848-F2D1456E7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Predictive Modeling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FE8D3-DF90-774D-45DC-52D4CE627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ZA"/>
              <a:t>Models Evaluated:</a:t>
            </a:r>
          </a:p>
          <a:p>
            <a:r>
              <a:rPr lang="en-ZA"/>
              <a:t>	1. Generalized Linear Model (GLM)</a:t>
            </a:r>
          </a:p>
          <a:p>
            <a:r>
              <a:rPr lang="en-ZA"/>
              <a:t>	2. Random Forest</a:t>
            </a:r>
          </a:p>
          <a:p>
            <a:r>
              <a:rPr lang="en-ZA"/>
              <a:t>	3. ARIMA</a:t>
            </a:r>
          </a:p>
          <a:p>
            <a:endParaRPr lang="en-ZA"/>
          </a:p>
          <a:p>
            <a:r>
              <a:rPr lang="en-ZA"/>
              <a:t>Performance (RMSE - Lower is Better):</a:t>
            </a:r>
          </a:p>
          <a:p>
            <a:r>
              <a:rPr lang="en-ZA"/>
              <a:t>	- GLM Gamma: 14.83 (Best Performer)</a:t>
            </a:r>
          </a:p>
          <a:p>
            <a:r>
              <a:rPr lang="en-ZA"/>
              <a:t>	- Linear Regression: 14.89</a:t>
            </a:r>
          </a:p>
          <a:p>
            <a:r>
              <a:rPr lang="en-ZA"/>
              <a:t>	- Random Forest: 16.71</a:t>
            </a:r>
          </a:p>
          <a:p>
            <a:endParaRPr lang="en-ZA"/>
          </a:p>
          <a:p>
            <a:r>
              <a:rPr lang="en-ZA"/>
              <a:t>The GLM closely tracks seasonal peaks, confirming reliability.</a:t>
            </a:r>
          </a:p>
        </p:txBody>
      </p:sp>
    </p:spTree>
    <p:extLst>
      <p:ext uri="{BB962C8B-B14F-4D97-AF65-F5344CB8AC3E}">
        <p14:creationId xmlns:p14="http://schemas.microsoft.com/office/powerpoint/2010/main" val="819852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DA63-DA12-28B9-9FC4-232EDF46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Forecasting Results (ARIMA)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EF9D2-53BB-CC67-9B5D-C281DACDA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Predictions:</a:t>
            </a:r>
          </a:p>
          <a:p>
            <a:r>
              <a:rPr lang="en-US"/>
              <a:t>	- High Risk Period: June - August (Winter) shows highest flood probability annually.</a:t>
            </a:r>
          </a:p>
          <a:p>
            <a:r>
              <a:rPr lang="en-US"/>
              <a:t>	- The forecast includes 80-95% confidence intervals.</a:t>
            </a:r>
          </a:p>
          <a:p>
            <a:endParaRPr lang="en-US"/>
          </a:p>
          <a:p>
            <a:r>
              <a:rPr lang="en-US"/>
              <a:t>[Placeholder: Insert Forecast Graph Here]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40987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5946-3105-15BE-7E50-3CAFB1C9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6744A-C00B-467D-37A0-986ACB60B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Drivers of Flood Risk:</a:t>
            </a:r>
          </a:p>
          <a:p>
            <a:r>
              <a:rPr lang="en-US"/>
              <a:t>	1. Precipitation &amp; Humidity: The strongest predictors of risk.</a:t>
            </a:r>
          </a:p>
          <a:p>
            <a:r>
              <a:rPr lang="en-US"/>
              <a:t>	2. Dam Capacity: Plays a significant role in flood severity.</a:t>
            </a:r>
          </a:p>
          <a:p>
            <a:r>
              <a:rPr lang="en-US"/>
              <a:t>	3. Temperature: Influences risk indirectly through seasonal patterns.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613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41D6-2C70-A95F-B309-BA2B1E661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Recommendations for CZR Insurance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16D78-C9AE-467C-DAD7-D573EA7E6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Strategic Actions:</a:t>
            </a:r>
          </a:p>
          <a:p>
            <a:r>
              <a:rPr lang="en-US"/>
              <a:t>	1. Dynamic Pricing: Adjust premiums based on predicted flood risk.</a:t>
            </a:r>
          </a:p>
          <a:p>
            <a:r>
              <a:rPr lang="en-US"/>
              <a:t>	2. Education: Enhance flood preparedness programs during high-risk months (Jun-Aug).</a:t>
            </a:r>
          </a:p>
          <a:p>
            <a:r>
              <a:rPr lang="en-US"/>
              <a:t>	3. Technology: Invest in advanced monitoring systems for real-time assessment.</a:t>
            </a:r>
          </a:p>
          <a:p>
            <a:r>
              <a:rPr lang="en-US"/>
              <a:t>	4. Partnerships: Collaborate with local government on mitigation infrastructure.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1375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Flood Risk Analysis: Western Cape</vt:lpstr>
      <vt:lpstr>Executive Summary</vt:lpstr>
      <vt:lpstr>Background &amp; Objectives</vt:lpstr>
      <vt:lpstr>Data Overview (2017-2021)</vt:lpstr>
      <vt:lpstr>EDA: Temperature vs Precipitation</vt:lpstr>
      <vt:lpstr>EDA: Seasonal Temperature Trends</vt:lpstr>
      <vt:lpstr>Predictive Modeling Performance</vt:lpstr>
      <vt:lpstr>Forecasting Results (ARIMA)</vt:lpstr>
      <vt:lpstr>Key Insights</vt:lpstr>
      <vt:lpstr>Recommendations for CZR Insurance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Mlibo Majola</dc:creator>
  <cp:lastModifiedBy>Mlibo Majola</cp:lastModifiedBy>
  <cp:revision>1</cp:revision>
  <dcterms:created xsi:type="dcterms:W3CDTF">2026-02-02T17:54:26Z</dcterms:created>
  <dcterms:modified xsi:type="dcterms:W3CDTF">2026-02-02T17:54:42Z</dcterms:modified>
</cp:coreProperties>
</file>